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  <p:sldMasterId id="2147483667" r:id="rId3"/>
    <p:sldMasterId id="2147483668" r:id="rId4"/>
    <p:sldMasterId id="2147483669" r:id="rId5"/>
    <p:sldMasterId id="2147483670" r:id="rId6"/>
    <p:sldMasterId id="2147483671" r:id="rId7"/>
    <p:sldMasterId id="2147483672" r:id="rId8"/>
    <p:sldMasterId id="2147483673" r:id="rId9"/>
    <p:sldMasterId id="2147483674" r:id="rId10"/>
    <p:sldMasterId id="2147483675" r:id="rId11"/>
    <p:sldMasterId id="2147483676" r:id="rId12"/>
    <p:sldMasterId id="2147483677" r:id="rId13"/>
    <p:sldMasterId id="2147483678" r:id="rId14"/>
    <p:sldMasterId id="2147483679" r:id="rId15"/>
    <p:sldMasterId id="2147483694" r:id="rId16"/>
  </p:sldMasterIdLst>
  <p:notesMasterIdLst>
    <p:notesMasterId r:id="rId29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6" r:id="rId26"/>
    <p:sldId id="267" r:id="rId27"/>
    <p:sldId id="268" r:id="rId28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Times" panose="02020603050405020304" pitchFamily="18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F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63BEFD-34F1-4015-AAA6-348518B0E7BF}">
  <a:tblStyle styleId="{6163BEFD-34F1-4015-AAA6-348518B0E7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0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1" Type="http://schemas.openxmlformats.org/officeDocument/2006/relationships/font" Target="fonts/font12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/>
          </a:p>
        </p:txBody>
      </p:sp>
      <p:sp>
        <p:nvSpPr>
          <p:cNvPr id="684" name="Google Shape;684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  <a:endParaRPr/>
          </a:p>
        </p:txBody>
      </p:sp>
      <p:sp>
        <p:nvSpPr>
          <p:cNvPr id="685" name="Google Shape;68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686" name="Google Shape;6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9"/>
          <p:cNvSpPr txBox="1">
            <a:spLocks noGrp="1"/>
          </p:cNvSpPr>
          <p:nvPr>
            <p:ph type="body" idx="1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97" name="Google Shape;197;p9"/>
          <p:cNvSpPr txBox="1">
            <a:spLocks noGrp="1"/>
          </p:cNvSpPr>
          <p:nvPr>
            <p:ph type="body" idx="2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9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9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1"/>
          <p:cNvSpPr txBox="1"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9" name="Google Shape;239;p11"/>
          <p:cNvSpPr txBox="1">
            <a:spLocks noGrp="1"/>
          </p:cNvSpPr>
          <p:nvPr>
            <p:ph type="body" idx="2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0" name="Google Shape;240;p11"/>
          <p:cNvSpPr txBox="1">
            <a:spLocks noGrp="1"/>
          </p:cNvSpPr>
          <p:nvPr>
            <p:ph type="body" idx="3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1" name="Google Shape;241;p11"/>
          <p:cNvSpPr txBox="1">
            <a:spLocks noGrp="1"/>
          </p:cNvSpPr>
          <p:nvPr>
            <p:ph type="body" idx="4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242" name="Google Shape;242;p1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1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1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5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7"/>
          <p:cNvSpPr txBox="1">
            <a:spLocks noGrp="1"/>
          </p:cNvSpPr>
          <p:nvPr>
            <p:ph type="body" idx="1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361" name="Google Shape;361;p17"/>
          <p:cNvSpPr txBox="1">
            <a:spLocks noGrp="1"/>
          </p:cNvSpPr>
          <p:nvPr>
            <p:ph type="body" idx="2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62" name="Google Shape;362;p17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>
            <a:spLocks noGrp="1"/>
          </p:cNvSpPr>
          <p:nvPr>
            <p:ph type="pic" idx="2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19"/>
          <p:cNvSpPr txBox="1">
            <a:spLocks noGrp="1"/>
          </p:cNvSpPr>
          <p:nvPr>
            <p:ph type="body" idx="1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1"/>
          <p:cNvSpPr txBox="1"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23"/>
          <p:cNvSpPr txBox="1">
            <a:spLocks noGrp="1"/>
          </p:cNvSpPr>
          <p:nvPr>
            <p:ph type="body" idx="1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84" name="Google Shape;484;p23"/>
          <p:cNvSpPr txBox="1">
            <a:spLocks noGrp="1"/>
          </p:cNvSpPr>
          <p:nvPr>
            <p:ph type="body" idx="2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23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"/>
          <p:cNvSpPr txBox="1"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5"/>
          <p:cNvSpPr txBox="1">
            <a:spLocks noGrp="1"/>
          </p:cNvSpPr>
          <p:nvPr>
            <p:ph type="body" idx="1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21" name="Google Shape;521;p25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7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7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62" name="Google Shape;562;p27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63" name="Google Shape;563;p27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"/>
          <p:cNvSpPr txBox="1"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9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02" name="Google Shape;602;p29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03" name="Google Shape;603;p29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31"/>
          <p:cNvSpPr txBox="1">
            <a:spLocks noGrp="1"/>
          </p:cNvSpPr>
          <p:nvPr>
            <p:ph type="body" idx="1"/>
          </p:nvPr>
        </p:nvSpPr>
        <p:spPr>
          <a:xfrm rot="5400000">
            <a:off x="3295650" y="781050"/>
            <a:ext cx="38862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42" name="Google Shape;642;p31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148C-B2AA-F03B-C1FB-5B465A296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67CA4-3F71-2D5E-0F61-17E99EBA1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CACB-416E-4366-2490-9A913A16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6880B-D189-587E-60F5-36A14B55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A15DD-A2E0-A157-E434-F83D6A60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11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FB1D-EB77-90A5-8562-2DBE2D3E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09C38-0404-569F-5767-9121BD305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1A3D7-8921-C0ED-795F-78398D56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A4789-044F-DB38-BC55-C1BA7B5F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022B-01D2-6807-CCB9-6BCD1B60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9883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5160-A61A-EF41-DCE4-70BEED98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80970-7E42-9C57-B13F-83B79B660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2126C-531B-1944-D2C5-7612F6A7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398CF-7D28-2365-ACDB-0593FFFE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95570-604C-3818-8D3C-04F09DAF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033679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0997-B164-147E-20B3-88998C52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320A-94B4-3BDC-B245-6DB832547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807E9-939A-64AD-977F-B56B7D71A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B4845-9BC5-96C8-48C7-FBB3CE31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5FD6C-A7EA-0FCE-8C5E-56AB39B8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5D961-8D73-70E3-8CDA-889CFDAF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5353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6DF9-28C9-05C6-57E0-E175AAEF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8165C-55F0-5CF6-B891-A0AD70A9F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557F0-DDB3-E34C-9E24-0391B9EE4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CDDD2B-5767-C37B-5AF4-874E3EAFD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43D21-5E61-F7C0-EED6-E09069A27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FAAF6-65CB-7DDB-93DB-65C6B928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E6DD4-341F-AFBF-9681-4BC47E79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29B3F-FCA1-D9C4-774C-1D82BB5A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427270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8071-13CA-AE36-D6FC-50584E12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2FF72-4497-E068-FD8D-D237B0E8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8404F-A11F-930C-3DA2-11EA49525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D3B25-D5F3-9FCA-F79F-8F81D22A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620780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BFB5D-DAAB-F7A6-CF53-FABF20F3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958D3-8AE8-7D4A-625A-C439DD69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A20E-3ECA-F417-EF17-BFBA95C5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82582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D302-D8A9-1C17-CA7C-EEFADA74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EDCBD-3D6C-3372-0BD2-DF044134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169DE-5214-CCAD-0895-492F51C96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9B301-1537-2C5A-5990-E64CA8D8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29A3-4E6C-D5B1-65B5-6D477F41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E8149-4145-AD85-E12E-11A1A558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592922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8DD5-15E3-BA5D-AB15-FDCAE60B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2D5DC-F6EF-EDEF-19B9-3FEAC19D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50695-1025-154A-045C-876610E01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DBF00-8B97-139C-6E90-DF4B78F4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4F866-6066-9107-E638-6F73E291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552ED-83DB-693A-2ACB-649546D4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037278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2B2A-128B-E2F6-0E48-47C82C69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DA2FE-8867-43E0-48AE-7129A5BEE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481C3-6E8D-B04B-E668-5A3D9329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557E9-2DEE-08F4-C284-C592663D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E2033-74F7-D199-2261-9C3EB80C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45752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8E106-794F-50D3-6F44-76F78570E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FEB3B-9C5F-A0FF-F669-85B49859A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2F71D-1213-51B3-D12C-87E62D96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1B53-EED4-4C83-9548-F7318BEDF55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E2C90-3BA6-E63C-E540-3EB8CA4C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02051-59FA-7683-8ED0-67D1A01C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313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7" name="Google Shape;47;p3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0" name="Google Shape;60;p3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3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6" name="Google Shape;76;p3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5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87" name="Google Shape;87;p5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9" name="Google Shape;99;p5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00" name="Google Shape;100;p5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2" name="Google Shape;112;p5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dt" idx="10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ftr" idx="11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20" name="Google Shape;120;p6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33" name="Google Shape;133;p6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6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dt" idx="10"/>
          </p:nvPr>
        </p:nvSpPr>
        <p:spPr>
          <a:xfrm>
            <a:off x="1908175" y="612933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2674937" y="6129337"/>
            <a:ext cx="51736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61" name="Google Shape;161;p8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174" name="Google Shape;174;p8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6" name="Google Shape;186;p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8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1" name="Google Shape;191;p8"/>
          <p:cNvSpPr txBox="1">
            <a:spLocks noGrp="1"/>
          </p:cNvSpPr>
          <p:nvPr>
            <p:ph type="dt" idx="10"/>
          </p:nvPr>
        </p:nvSpPr>
        <p:spPr>
          <a:xfrm>
            <a:off x="1828800" y="6111875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ftr" idx="11"/>
          </p:nvPr>
        </p:nvSpPr>
        <p:spPr>
          <a:xfrm>
            <a:off x="2595562" y="6135687"/>
            <a:ext cx="5064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03" name="Google Shape;203;p10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16" name="Google Shape;216;p10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28" name="Google Shape;228;p1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1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231" name="Google Shape;231;p1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3" name="Google Shape;233;p1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5" name="Google Shape;235;p10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47" name="Google Shape;247;p12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59" name="Google Shape;259;p1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60" name="Google Shape;260;p12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72" name="Google Shape;272;p1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12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1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6" name="Google Shape;276;p12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7" name="Google Shape;277;p12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8" name="Google Shape;278;p12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86" name="Google Shape;286;p14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8" name="Google Shape;298;p1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99" name="Google Shape;299;p14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1" name="Google Shape;311;p1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14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14" name="Google Shape;314;p1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1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6" name="Google Shape;316;p14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7" name="Google Shape;317;p14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18" name="Google Shape;318;p14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25" name="Google Shape;325;p16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37" name="Google Shape;337;p1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338" name="Google Shape;338;p16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0" name="Google Shape;350;p1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16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5" name="Google Shape;355;p16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 txBox="1">
            <a:spLocks noGrp="1"/>
          </p:cNvSpPr>
          <p:nvPr>
            <p:ph type="dt" idx="10"/>
          </p:nvPr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7" name="Google Shape;357;p16"/>
          <p:cNvSpPr txBox="1">
            <a:spLocks noGrp="1"/>
          </p:cNvSpPr>
          <p:nvPr>
            <p:ph type="ftr" idx="11"/>
          </p:nvPr>
        </p:nvSpPr>
        <p:spPr>
          <a:xfrm>
            <a:off x="2819400" y="6156325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67" name="Google Shape;367;p18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9" name="Google Shape;379;p1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380" name="Google Shape;380;p18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2" name="Google Shape;392;p1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1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9" name="Google Shape;399;p1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07" name="Google Shape;407;p20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19" name="Google Shape;419;p2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420" name="Google Shape;420;p20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32" name="Google Shape;432;p2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20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35" name="Google Shape;435;p20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37" name="Google Shape;437;p2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2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9" name="Google Shape;439;p20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46" name="Google Shape;446;p22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8" name="Google Shape;458;p22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459" name="Google Shape;459;p22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71" name="Google Shape;471;p2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22"/>
          <p:cNvSpPr/>
          <p:nvPr/>
        </p:nvSpPr>
        <p:spPr>
          <a:xfrm rot="10800000" flipH="1">
            <a:off x="0" y="3167062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78" name="Google Shape;478;p22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22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80" name="Google Shape;480;p22"/>
          <p:cNvSpPr txBox="1">
            <a:spLocks noGrp="1"/>
          </p:cNvSpPr>
          <p:nvPr>
            <p:ph type="sldNum" idx="12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88" name="Google Shape;488;p24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01" name="Google Shape;501;p24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3" name="Google Shape;513;p2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24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24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24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17" name="Google Shape;517;p24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24" name="Google Shape;524;p26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6" name="Google Shape;536;p26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37" name="Google Shape;537;p26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49" name="Google Shape;549;p2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26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lang="en-US" sz="80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56" name="Google Shape;556;p26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7" name="Google Shape;557;p2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58" name="Google Shape;558;p26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66" name="Google Shape;566;p28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78" name="Google Shape;578;p2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579" name="Google Shape;579;p28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91" name="Google Shape;591;p2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p28"/>
          <p:cNvSpPr/>
          <p:nvPr/>
        </p:nvSpPr>
        <p:spPr>
          <a:xfrm rot="10800000" flipH="1">
            <a:off x="0" y="4910137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96" name="Google Shape;596;p2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2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98" name="Google Shape;598;p28"/>
          <p:cNvSpPr txBox="1">
            <a:spLocks noGrp="1"/>
          </p:cNvSpPr>
          <p:nvPr>
            <p:ph type="sldNum" idx="12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606" name="Google Shape;606;p30"/>
            <p:cNvSpPr/>
            <p:nvPr/>
          </p:nvSpPr>
          <p:spPr>
            <a:xfrm>
              <a:off x="2487613" y="2284222"/>
              <a:ext cx="85633" cy="534098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2596601" y="2779108"/>
              <a:ext cx="550779" cy="1978191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3174627" y="4730255"/>
              <a:ext cx="519639" cy="1210171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3305023" y="5630785"/>
              <a:ext cx="145967" cy="309641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2573246" y="2818321"/>
              <a:ext cx="700637" cy="2834099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2507075" y="285750"/>
              <a:ext cx="89526" cy="2493358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2553784" y="2599273"/>
              <a:ext cx="68118" cy="420517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143488" y="4757298"/>
              <a:ext cx="161535" cy="873487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147380" y="1282282"/>
              <a:ext cx="1769108" cy="3447973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273883" y="5652419"/>
              <a:ext cx="138182" cy="288007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143488" y="4655887"/>
              <a:ext cx="31139" cy="1893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3211605" y="5410385"/>
              <a:ext cx="202406" cy="530041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18" name="Google Shape;618;p3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19" name="Google Shape;619;p30"/>
            <p:cNvSpPr/>
            <p:nvPr/>
          </p:nvSpPr>
          <p:spPr>
            <a:xfrm>
              <a:off x="6627813" y="196102"/>
              <a:ext cx="409575" cy="3647005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7061200" y="3772087"/>
              <a:ext cx="350838" cy="1309923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7439025" y="5053076"/>
              <a:ext cx="357188" cy="820675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7037388" y="3811543"/>
              <a:ext cx="457200" cy="1853094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6992938" y="1264031"/>
              <a:ext cx="144462" cy="2508056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7526338" y="5640963"/>
              <a:ext cx="111125" cy="23278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7021513" y="3598483"/>
              <a:ext cx="68262" cy="424804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7412038" y="2801482"/>
              <a:ext cx="1168400" cy="225159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7494588" y="5664636"/>
              <a:ext cx="100012" cy="209115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7412038" y="5082010"/>
              <a:ext cx="114300" cy="558953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7412038" y="4978110"/>
              <a:ext cx="31750" cy="189386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7439025" y="5434480"/>
              <a:ext cx="174625" cy="439271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31" name="Google Shape;631;p3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2" name="Google Shape;632;p3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30"/>
          <p:cNvSpPr txBox="1"/>
          <p:nvPr/>
        </p:nvSpPr>
        <p:spPr>
          <a:xfrm>
            <a:off x="1949450" y="618807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2790825" y="621030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635" name="Google Shape;635;p30"/>
          <p:cNvSpPr txBox="1"/>
          <p:nvPr/>
        </p:nvSpPr>
        <p:spPr>
          <a:xfrm>
            <a:off x="7954962" y="6091237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636" name="Google Shape;636;p3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7" name="Google Shape;637;p3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sz="3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38" name="Google Shape;638;p30"/>
          <p:cNvSpPr txBox="1">
            <a:spLocks noGrp="1"/>
          </p:cNvSpPr>
          <p:nvPr>
            <p:ph type="sldNum" idx="12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C74CF-A1DD-FF03-8329-B0C31951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50580-7639-4A5F-CC86-79882E06E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7334-DF8D-4DFD-F275-7CE9F4A80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62093-4457-B314-D47F-4F94B81DA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86B3-F702-7E4E-0CD8-80F228429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3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/>
        </p:nvSpPr>
        <p:spPr>
          <a:xfrm>
            <a:off x="1036864" y="678656"/>
            <a:ext cx="7070271" cy="858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lang="en-US" sz="2000" b="1" i="0" u="none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DAYANANDA SAGAR UNIVERSITY</a:t>
            </a:r>
            <a:endParaRPr lang="en-US" sz="1200"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5672"/>
              </a:buClr>
              <a:buSzPts val="2000"/>
              <a:buFont typeface="Cambria"/>
              <a:buNone/>
            </a:pPr>
            <a:r>
              <a:rPr lang="en-US" sz="1800" b="1" i="0" u="none" dirty="0">
                <a:solidFill>
                  <a:srgbClr val="0E5672"/>
                </a:solidFill>
                <a:latin typeface="Cambria"/>
                <a:ea typeface="Cambria"/>
                <a:cs typeface="Cambria"/>
                <a:sym typeface="Cambria"/>
              </a:rPr>
              <a:t>SCHOOL OF ENGINEERING</a:t>
            </a:r>
            <a:endParaRPr sz="1200" dirty="0"/>
          </a:p>
        </p:txBody>
      </p:sp>
      <p:sp>
        <p:nvSpPr>
          <p:cNvPr id="690" name="Google Shape;690;p34"/>
          <p:cNvSpPr txBox="1">
            <a:spLocks noGrp="1"/>
          </p:cNvSpPr>
          <p:nvPr>
            <p:ph type="subTitle" idx="1"/>
          </p:nvPr>
        </p:nvSpPr>
        <p:spPr>
          <a:xfrm>
            <a:off x="876300" y="2779712"/>
            <a:ext cx="77724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RIDERLINK: OFFLINE MESH NETWORKING &amp; TELEMETRY SYSTEM FOR MOTORCYCLES</a:t>
            </a:r>
          </a:p>
        </p:txBody>
      </p:sp>
      <p:sp>
        <p:nvSpPr>
          <p:cNvPr id="691" name="Google Shape;691;p34"/>
          <p:cNvSpPr txBox="1"/>
          <p:nvPr/>
        </p:nvSpPr>
        <p:spPr>
          <a:xfrm>
            <a:off x="2590800" y="5105400"/>
            <a:ext cx="3962400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Presented By:</a:t>
            </a:r>
          </a:p>
          <a:p>
            <a:r>
              <a:t>Ashwin &amp; Team</a:t>
            </a:r>
          </a:p>
          <a:p/>
          <a:p>
            <a:r>
              <a:t>Minor project Review 1</a:t>
            </a:r>
          </a:p>
        </p:txBody>
      </p:sp>
      <p:sp>
        <p:nvSpPr>
          <p:cNvPr id="692" name="Google Shape;692;p34"/>
          <p:cNvSpPr txBox="1"/>
          <p:nvPr/>
        </p:nvSpPr>
        <p:spPr>
          <a:xfrm>
            <a:off x="1619250" y="2084387"/>
            <a:ext cx="59055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Minor project</a:t>
            </a:r>
            <a:r>
              <a:rPr lang="en-US" sz="2400" b="1" i="0" u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Review 1</a:t>
            </a:r>
            <a:endParaRPr dirty="0"/>
          </a:p>
        </p:txBody>
      </p:sp>
      <p:sp>
        <p:nvSpPr>
          <p:cNvPr id="694" name="Google Shape;694;p34"/>
          <p:cNvSpPr txBox="1"/>
          <p:nvPr/>
        </p:nvSpPr>
        <p:spPr>
          <a:xfrm>
            <a:off x="523503" y="1314449"/>
            <a:ext cx="87630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lang="en-US" sz="2400" b="1" i="0" u="none" dirty="0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1200" dirty="0"/>
          </a:p>
        </p:txBody>
      </p:sp>
      <p:sp>
        <p:nvSpPr>
          <p:cNvPr id="695" name="Google Shape;695;p34"/>
          <p:cNvSpPr txBox="1"/>
          <p:nvPr/>
        </p:nvSpPr>
        <p:spPr>
          <a:xfrm>
            <a:off x="1809750" y="3887787"/>
            <a:ext cx="59055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Under the Supervision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 Dr./Prof. &lt;Guide Name&gt;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&lt;Designation of Guide&gt;</a:t>
            </a:r>
            <a:endParaRPr/>
          </a:p>
        </p:txBody>
      </p:sp>
      <p:sp>
        <p:nvSpPr>
          <p:cNvPr id="696" name="Google Shape;696;p34"/>
          <p:cNvSpPr txBox="1"/>
          <p:nvPr/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i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F3618D-034D-19D6-89B4-3D3A502187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355" y="0"/>
            <a:ext cx="2238645" cy="107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0C2886C-3DE8-E490-7780-D1F126166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864" y="183769"/>
            <a:ext cx="1901895" cy="62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5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702" name="Google Shape;702;p35"/>
          <p:cNvSpPr txBox="1">
            <a:spLocks noGrp="1"/>
          </p:cNvSpPr>
          <p:nvPr>
            <p:ph type="body" idx="1"/>
          </p:nvPr>
        </p:nvSpPr>
        <p:spPr>
          <a:xfrm>
            <a:off x="1745455" y="1539875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Abstract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Problem Statement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Introduction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Social/Environmental Impact (If applicable)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State of the Art work (Literature survey)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Functional Requirements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Non-Functional Requirements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System/Software Requirements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Design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Methodology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References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rgbClr val="40404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 b="0" i="0" u="none" dirty="0">
              <a:solidFill>
                <a:srgbClr val="40404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703" name="Google Shape;703;p35"/>
          <p:cNvSpPr txBox="1"/>
          <p:nvPr/>
        </p:nvSpPr>
        <p:spPr>
          <a:xfrm>
            <a:off x="950912" y="6165850"/>
            <a:ext cx="10668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04" name="Google Shape;704;p35"/>
          <p:cNvSpPr txBox="1"/>
          <p:nvPr/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05" name="Google Shape;705;p35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6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711" name="Google Shape;711;p36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RiderLink is an advanced motorcycle telemetry and safety system leveraging ESP32-based LoRa mesh networking and Flutter. It addresses the critical issue of cellular black-spots during group rides by providing off-grid GPS tracking, automatic crash detection via IMU sensors, and peer-to-peer hazard broadcasting. The system includes an Android app for navigation and a digital garage for maintenance tracking.</a:t>
            </a:r>
          </a:p>
        </p:txBody>
      </p:sp>
      <p:sp>
        <p:nvSpPr>
          <p:cNvPr id="712" name="Google Shape;712;p3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13" name="Google Shape;713;p36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14" name="Google Shape;714;p36"/>
          <p:cNvSpPr txBox="1"/>
          <p:nvPr/>
        </p:nvSpPr>
        <p:spPr>
          <a:xfrm>
            <a:off x="2819400" y="6156325"/>
            <a:ext cx="512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200"/>
              <a:buFont typeface="Calibri"/>
              <a:buNone/>
            </a:pPr>
            <a:r>
              <a:rPr lang="en-US" sz="32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br>
              <a:rPr lang="en-US" sz="32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20" name="Google Shape;720;p37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- Motorcycle riders frequently travel through remote areas lacking cellular coverage, making group coordination and emergency responses difficult.</a:t>
            </a:r>
          </a:p>
          <a:p>
            <a:r>
              <a:t>- Existing navigation apps rely heavily on constant active internet connections.</a:t>
            </a:r>
          </a:p>
          <a:p>
            <a:r>
              <a:t>- Current SOS systems are expensive, subscription-based, or lack automated vehicle-telemetry crash detection.</a:t>
            </a:r>
          </a:p>
        </p:txBody>
      </p:sp>
      <p:sp>
        <p:nvSpPr>
          <p:cNvPr id="721" name="Google Shape;721;p37"/>
          <p:cNvSpPr txBox="1"/>
          <p:nvPr/>
        </p:nvSpPr>
        <p:spPr>
          <a:xfrm>
            <a:off x="8243887" y="6156325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22" name="Google Shape;722;p37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23" name="Google Shape;723;p37"/>
          <p:cNvSpPr txBox="1"/>
          <p:nvPr/>
        </p:nvSpPr>
        <p:spPr>
          <a:xfrm>
            <a:off x="2819400" y="6156325"/>
            <a:ext cx="5257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29" name="Google Shape;729;p38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Current Status: Base Flutter UI, SQLite Database, and off-grid LoRa mesh logic implemented.</a:t>
            </a:r>
          </a:p>
          <a:p>
            <a:r>
              <a:t>Plan: Finalize hardware integration with ESP32 sensors.</a:t>
            </a:r>
          </a:p>
          <a:p>
            <a:r>
              <a:t>Scope: Real-time lean angle telemetry, Waze-style hazard reporting over LoRa, offline map routing, and group proximity alerts.</a:t>
            </a:r>
          </a:p>
          <a:p>
            <a:r>
              <a:t>Assumptions: Riders will equip their bikes with the RiderLink ESP32 hardware module.</a:t>
            </a:r>
          </a:p>
        </p:txBody>
      </p:sp>
      <p:sp>
        <p:nvSpPr>
          <p:cNvPr id="730" name="Google Shape;730;p38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31" name="Google Shape;731;p38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32" name="Google Shape;732;p38"/>
          <p:cNvSpPr txBox="1"/>
          <p:nvPr/>
        </p:nvSpPr>
        <p:spPr>
          <a:xfrm>
            <a:off x="2819400" y="6156325"/>
            <a:ext cx="512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9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Social/Environmental Impact</a:t>
            </a:r>
            <a:b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38" name="Google Shape;738;p39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- Significantly reduces emergency response times for motorcycle accidents in remote areas via mesh-routed SOS beacons.</a:t>
            </a:r>
          </a:p>
          <a:p>
            <a:r>
              <a:t>- Encourages safer riding habits through live lean-angle and G-force telemetry feedback.</a:t>
            </a:r>
          </a:p>
          <a:p>
            <a:r>
              <a:t>- Promotes environmental awareness by integrating weather alerts and efficient curvy-route generation.</a:t>
            </a:r>
          </a:p>
        </p:txBody>
      </p:sp>
      <p:sp>
        <p:nvSpPr>
          <p:cNvPr id="739" name="Google Shape;739;p39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40" name="Google Shape;740;p39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41" name="Google Shape;741;p39"/>
          <p:cNvSpPr txBox="1"/>
          <p:nvPr/>
        </p:nvSpPr>
        <p:spPr>
          <a:xfrm>
            <a:off x="2819400" y="6156325"/>
            <a:ext cx="512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0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State of the Art-work</a:t>
            </a:r>
            <a:b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47" name="Google Shape;747;p40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1. Traditional cellular GPS trackers (cannot operate fully off-grid).</a:t>
            </a:r>
          </a:p>
          <a:p>
            <a:r>
              <a:t>2. Garmin inReach (expensive satellite subscription required).</a:t>
            </a:r>
          </a:p>
          <a:p>
            <a:r>
              <a:t>3. Standard mesh intercoms (Cardo/Sena) lack map-visualized GPS coordinates.</a:t>
            </a:r>
          </a:p>
          <a:p>
            <a:r>
              <a:t>RiderLink bridges this gap by unifying free LoRa hardware with a rich smartphone UI.</a:t>
            </a:r>
          </a:p>
        </p:txBody>
      </p:sp>
      <p:sp>
        <p:nvSpPr>
          <p:cNvPr id="748" name="Google Shape;748;p40"/>
          <p:cNvSpPr txBox="1"/>
          <p:nvPr/>
        </p:nvSpPr>
        <p:spPr>
          <a:xfrm>
            <a:off x="1657350" y="6091237"/>
            <a:ext cx="106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49" name="Google Shape;749;p40"/>
          <p:cNvSpPr txBox="1"/>
          <p:nvPr/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graphicFrame>
        <p:nvGraphicFramePr>
          <p:cNvPr id="750" name="Google Shape;750;p40"/>
          <p:cNvGraphicFramePr/>
          <p:nvPr>
            <p:extLst>
              <p:ext uri="{D42A27DB-BD31-4B8C-83A1-F6EECF244321}">
                <p14:modId xmlns:p14="http://schemas.microsoft.com/office/powerpoint/2010/main" val="3238243746"/>
              </p:ext>
            </p:extLst>
          </p:nvPr>
        </p:nvGraphicFramePr>
        <p:xfrm>
          <a:off x="914425" y="3042599"/>
          <a:ext cx="8077175" cy="3083309"/>
        </p:xfrm>
        <a:graphic>
          <a:graphicData uri="http://schemas.openxmlformats.org/drawingml/2006/table">
            <a:tbl>
              <a:tblPr>
                <a:noFill/>
                <a:tableStyleId>{6163BEFD-34F1-4015-AAA6-348518B0E7BF}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0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Author’s Name/ Paper Title 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Conference/Journal Name and year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Technology/ Design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Results shared by author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What you infer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59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8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Jiang Hongyu et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al.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"Genre-based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Emoji Usage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Analysis and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Prediction in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Video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Comments." [2]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IEEE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International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Symposium on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Dependable,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Autonomic and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Secure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Computing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2020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Gated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Recurrent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Unit(GRU)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Neural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Networks.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 predict an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emojis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category and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position in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video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comments.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Categorize the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emojis to achieve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high accuracy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and recommend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the suitable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emoji for the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context.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1" name="Google Shape;751;p40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1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</p:txBody>
      </p:sp>
      <p:sp>
        <p:nvSpPr>
          <p:cNvPr id="757" name="Google Shape;757;p41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- Frontend: Flutter (Dart) for Android/iOS.</a:t>
            </a:r>
          </a:p>
          <a:p>
            <a:r>
              <a:t>- Backend/Hardware: ESP32 microcontroller with standard LoRa SX1278 transceiver.</a:t>
            </a:r>
          </a:p>
          <a:p>
            <a:r>
              <a:t>- Mapping: 'flutter_map' with offline Tile Layer support.</a:t>
            </a:r>
          </a:p>
          <a:p>
            <a:r>
              <a:t>- Database: SQLite (sqflite) for localized GPX route logging and maintenance tracking.</a:t>
            </a:r>
          </a:p>
          <a:p>
            <a:r>
              <a:t>- Protocol: Custom binary lightweight BLE mesh protocol.</a:t>
            </a:r>
          </a:p>
        </p:txBody>
      </p:sp>
      <p:sp>
        <p:nvSpPr>
          <p:cNvPr id="758" name="Google Shape;758;p41"/>
          <p:cNvSpPr txBox="1"/>
          <p:nvPr/>
        </p:nvSpPr>
        <p:spPr>
          <a:xfrm>
            <a:off x="1371600" y="6099175"/>
            <a:ext cx="10668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59" name="Google Shape;759;p41"/>
          <p:cNvSpPr txBox="1"/>
          <p:nvPr/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60" name="Google Shape;760;p41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2"/>
          <p:cNvSpPr txBox="1">
            <a:spLocks noGrp="1"/>
          </p:cNvSpPr>
          <p:nvPr>
            <p:ph type="title"/>
          </p:nvPr>
        </p:nvSpPr>
        <p:spPr>
          <a:xfrm>
            <a:off x="1276350" y="76200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Design- few examples</a:t>
            </a:r>
            <a:endParaRPr/>
          </a:p>
        </p:txBody>
      </p:sp>
      <p:pic>
        <p:nvPicPr>
          <p:cNvPr id="766" name="Google Shape;76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4312" y="747712"/>
            <a:ext cx="3438525" cy="24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2" descr="A high level diagram of the SVO software architecture. | Download  Scientific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2500" y="531812"/>
            <a:ext cx="2736850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2" descr="Communications Express High-Level Architecture (Sun Java Communications  Suite 5 Deployment Planning Guide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8600" y="3302000"/>
            <a:ext cx="2471737" cy="2665412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2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70" name="Google Shape;770;p42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71" name="Google Shape;771;p42"/>
          <p:cNvSpPr txBox="1"/>
          <p:nvPr/>
        </p:nvSpPr>
        <p:spPr>
          <a:xfrm>
            <a:off x="2819400" y="6156325"/>
            <a:ext cx="512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4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body" idx="1"/>
          </p:nvPr>
        </p:nvSpPr>
        <p:spPr>
          <a:xfrm>
            <a:off x="1676400" y="1752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1. Hardware Assembly: ESP32 + LoRa + GPS + MPU6050 IMU.</a:t>
            </a:r>
          </a:p>
          <a:p>
            <a:r>
              <a:t>2. Firmware: C++ FreeRTOS tasks to handle high-frequency sensor fusion and LoRa interrupts.</a:t>
            </a:r>
          </a:p>
          <a:p>
            <a:r>
              <a:t>3. BLE Bridge: Flutter app acts as a central Bluetooth client, parsing custom characteristic payloads.</a:t>
            </a:r>
          </a:p>
          <a:p>
            <a:r>
              <a:t>4. UI Mapping: Layered state management (GetX) to render moving map markers and pop emergency Modals instantly.</a:t>
            </a:r>
          </a:p>
        </p:txBody>
      </p:sp>
      <p:sp>
        <p:nvSpPr>
          <p:cNvPr id="787" name="Google Shape;787;p44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88" name="Google Shape;788;p44"/>
          <p:cNvSpPr txBox="1"/>
          <p:nvPr/>
        </p:nvSpPr>
        <p:spPr>
          <a:xfrm>
            <a:off x="1943100" y="6156325"/>
            <a:ext cx="8763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89" name="Google Shape;789;p44"/>
          <p:cNvSpPr txBox="1"/>
          <p:nvPr/>
        </p:nvSpPr>
        <p:spPr>
          <a:xfrm>
            <a:off x="2819400" y="6156325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5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74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795" name="Google Shape;795;p45"/>
          <p:cNvSpPr txBox="1">
            <a:spLocks noGrp="1"/>
          </p:cNvSpPr>
          <p:nvPr>
            <p:ph type="body" idx="1"/>
          </p:nvPr>
        </p:nvSpPr>
        <p:spPr>
          <a:xfrm>
            <a:off x="1331912" y="1834662"/>
            <a:ext cx="6934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[1] Augustin, A., et al., "A study of LoRa: Long Range &amp; Low Power Networks for the IoT," Sensors, 2016.</a:t>
            </a:r>
          </a:p>
          <a:p>
            <a:r>
              <a:t>[2] Flutter API Documentation, flutter.dev</a:t>
            </a:r>
          </a:p>
          <a:p>
            <a:r>
              <a:t>[3] Espressif ESP32 Datasheet and Hardware Reference Manual.</a:t>
            </a:r>
          </a:p>
        </p:txBody>
      </p:sp>
      <p:sp>
        <p:nvSpPr>
          <p:cNvPr id="796" name="Google Shape;796;p45"/>
          <p:cNvSpPr txBox="1"/>
          <p:nvPr/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97" name="Google Shape;797;p45"/>
          <p:cNvSpPr txBox="1"/>
          <p:nvPr/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98" name="Google Shape;798;p45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6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</a:pPr>
            <a:endParaRPr sz="3600" b="1" i="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</a:pPr>
            <a:r>
              <a:rPr lang="en-US" sz="3600" b="1" i="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806" name="Google Shape;806;p46"/>
          <p:cNvSpPr txBox="1"/>
          <p:nvPr/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807" name="Google Shape;807;p46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8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9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0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729</Words>
  <Application>Microsoft Office PowerPoint</Application>
  <PresentationFormat>On-screen Show (4:3)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12</vt:i4>
      </vt:variant>
    </vt:vector>
  </HeadingPairs>
  <TitlesOfParts>
    <vt:vector size="36" baseType="lpstr">
      <vt:lpstr>Calibri</vt:lpstr>
      <vt:lpstr>Arial</vt:lpstr>
      <vt:lpstr>Cambria</vt:lpstr>
      <vt:lpstr>Times</vt:lpstr>
      <vt:lpstr>Calibri Light</vt:lpstr>
      <vt:lpstr>Courier New</vt:lpstr>
      <vt:lpstr>Noto Sans Symbols</vt:lpstr>
      <vt:lpstr>Century Gothic</vt:lpstr>
      <vt:lpstr>2_Wisp</vt:lpstr>
      <vt:lpstr>Wisp</vt:lpstr>
      <vt:lpstr>3_Wisp</vt:lpstr>
      <vt:lpstr>4_Wisp</vt:lpstr>
      <vt:lpstr>5_Wisp</vt:lpstr>
      <vt:lpstr>6_Wisp</vt:lpstr>
      <vt:lpstr>7_Wisp</vt:lpstr>
      <vt:lpstr>8_Wisp</vt:lpstr>
      <vt:lpstr>9_Wisp</vt:lpstr>
      <vt:lpstr>10_Wisp</vt:lpstr>
      <vt:lpstr>11_Wisp</vt:lpstr>
      <vt:lpstr>12_Wisp</vt:lpstr>
      <vt:lpstr>13_Wisp</vt:lpstr>
      <vt:lpstr>14_Wisp</vt:lpstr>
      <vt:lpstr>15_Wisp</vt:lpstr>
      <vt:lpstr>Office Theme</vt:lpstr>
      <vt:lpstr>PowerPoint Presentation</vt:lpstr>
      <vt:lpstr>Overview</vt:lpstr>
      <vt:lpstr>Abstract</vt:lpstr>
      <vt:lpstr>Problem Statement </vt:lpstr>
      <vt:lpstr>Introduction</vt:lpstr>
      <vt:lpstr>Social/Environmental Impact </vt:lpstr>
      <vt:lpstr>State of the Art-work </vt:lpstr>
      <vt:lpstr>Design</vt:lpstr>
      <vt:lpstr>Design- few examples</vt:lpstr>
      <vt:lpstr>Methodology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6</cp:revision>
  <dcterms:modified xsi:type="dcterms:W3CDTF">2026-03-12T10:21:01Z</dcterms:modified>
</cp:coreProperties>
</file>